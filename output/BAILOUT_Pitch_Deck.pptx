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4bdeda4b9a4b37" /><Relationship Type="http://schemas.openxmlformats.org/officeDocument/2006/relationships/extended-properties" Target="/docProps/app.xml" Id="R74e17dec737b4037" /><Relationship Type="http://schemas.openxmlformats.org/officeDocument/2006/relationships/officeDocument" Target="/ppt/presentation.xml" Id="R75f873f5052a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2b576e63f4662"/>
  </p:sldMasterIdLst>
  <p:notesMasterIdLst>
    <p:notesMasterId xmlns:r="http://schemas.openxmlformats.org/officeDocument/2006/relationships" r:id="R087aadf4101a4fca"/>
  </p:notesMasterIdLst>
  <p:sldIdLst>
    <p:sldId xmlns:r="http://schemas.openxmlformats.org/officeDocument/2006/relationships" id="256" r:id="R72d1f30626a543a8"/>
    <p:sldId xmlns:r="http://schemas.openxmlformats.org/officeDocument/2006/relationships" id="257" r:id="R66fae52e2ab345da"/>
    <p:sldId xmlns:r="http://schemas.openxmlformats.org/officeDocument/2006/relationships" id="258" r:id="R1d1fdb9bc6f24bcb"/>
    <p:sldId xmlns:r="http://schemas.openxmlformats.org/officeDocument/2006/relationships" id="259" r:id="R54ab24facc684fe2"/>
    <p:sldId xmlns:r="http://schemas.openxmlformats.org/officeDocument/2006/relationships" id="260" r:id="R09b86a26c4b545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6883641d924993" /><Relationship Type="http://schemas.openxmlformats.org/officeDocument/2006/relationships/slideMaster" Target="/ppt/slideMasters/slideMaster1.xml" Id="Rec72b576e63f4662" /><Relationship Type="http://schemas.openxmlformats.org/officeDocument/2006/relationships/notesMaster" Target="/ppt/notesMasters/notesMaster1.xml" Id="R087aadf4101a4fca" /><Relationship Type="http://schemas.openxmlformats.org/officeDocument/2006/relationships/presProps" Target="/ppt/presProps.xml" Id="Rdd9c19e570fe4056" /><Relationship Type="http://schemas.openxmlformats.org/officeDocument/2006/relationships/tableStyles" Target="/ppt/tableStyles.xml" Id="Rfe3e0a5935b94c03" /><Relationship Type="http://schemas.openxmlformats.org/officeDocument/2006/relationships/slide" Target="/ppt/slides/slide1.xml" Id="R72d1f30626a543a8" /><Relationship Type="http://schemas.openxmlformats.org/officeDocument/2006/relationships/slide" Target="/ppt/slides/slide2.xml" Id="R66fae52e2ab345da" /><Relationship Type="http://schemas.openxmlformats.org/officeDocument/2006/relationships/slide" Target="/ppt/slides/slide3.xml" Id="R1d1fdb9bc6f24bcb" /><Relationship Type="http://schemas.openxmlformats.org/officeDocument/2006/relationships/slide" Target="/ppt/slides/slide4.xml" Id="R54ab24facc684fe2" /><Relationship Type="http://schemas.openxmlformats.org/officeDocument/2006/relationships/slide" Target="/ppt/slides/slide5.xml" Id="R09b86a26c4b5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014174b99049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4d8c2bca424d0e" /><Relationship Type="http://schemas.openxmlformats.org/officeDocument/2006/relationships/notesMaster" Target="/ppt/notesMasters/notesMaster1.xml" Id="Rd1ac7f980b674a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61bc0ead884290" /><Relationship Type="http://schemas.openxmlformats.org/officeDocument/2006/relationships/notesMaster" Target="/ppt/notesMasters/notesMaster1.xml" Id="R2e54af2d1646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d9a296479241c9" /><Relationship Type="http://schemas.openxmlformats.org/officeDocument/2006/relationships/notesMaster" Target="/ppt/notesMasters/notesMaster1.xml" Id="R1139faf25dee40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30c5647e444ad" /><Relationship Type="http://schemas.openxmlformats.org/officeDocument/2006/relationships/notesMaster" Target="/ppt/notesMasters/notesMaster1.xml" Id="Rc6db069caa12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f8aa51b43c4252" /><Relationship Type="http://schemas.openxmlformats.org/officeDocument/2006/relationships/notesMaster" Target="/ppt/notesMasters/notesMaster1.xml" Id="R9082733fbecb4f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18f74184d45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a1764e3a08425b" /><Relationship Type="http://schemas.openxmlformats.org/officeDocument/2006/relationships/slideLayout" Target="/ppt/slideLayouts/slideLayout1.xml" Id="Rfa168de9399e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68de9399e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0f8a2be24032" /><Relationship Type="http://schemas.openxmlformats.org/officeDocument/2006/relationships/notesSlide" Target="/ppt/notesSlides/notesSlide1.xml" Id="Rfe810e47d2b349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0b924325b4618" /><Relationship Type="http://schemas.openxmlformats.org/officeDocument/2006/relationships/notesSlide" Target="/ppt/notesSlides/notesSlide2.xml" Id="R6289887189d54e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898c2e1274c07" /><Relationship Type="http://schemas.openxmlformats.org/officeDocument/2006/relationships/notesSlide" Target="/ppt/notesSlides/notesSlide3.xml" Id="R9e74ad820943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a419088234eb0" /><Relationship Type="http://schemas.openxmlformats.org/officeDocument/2006/relationships/image" Target="/ppt/media/image.png" Id="Ra21e4933c5bf4add" /><Relationship Type="http://schemas.openxmlformats.org/officeDocument/2006/relationships/notesSlide" Target="/ppt/notesSlides/notesSlide4.xml" Id="Rf06042f4c9324e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c6049182241f3" /><Relationship Type="http://schemas.openxmlformats.org/officeDocument/2006/relationships/notesSlide" Target="/ppt/notesSlides/notesSlide5.xml" Id="R359990f5430a45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05A00-2A84-4192-BA5C-D2576CFB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5E44B-B24D-485B-932B-9EAC151C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[ S.M.E.S. // BAILOUT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7BEF0-4906-488E-B405-71979F1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89B"/>
                </a:solidFill>
              </a:defRPr>
            </a:pPr>
            <a:r>
              <a:rPr sz="975" b="1">
                <a:solidFill>
                  <a:srgbClr val="8FA89B"/>
                </a:solidFill>
              </a:rPr>
              <a:t>STRATEGIC MEETING EXTRACTION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2B331-B586-47D2-84BA-E2B6BC96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D1F20-BF65-47AA-907D-83640CF8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75A19-3C9A-4EF5-ACD3-19214CF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95E"/>
                </a:solidFill>
              </a:defRPr>
            </a:pPr>
            <a:r>
              <a:rPr sz="825" b="1">
                <a:solidFill>
                  <a:srgbClr val="53695E"/>
                </a:solidFill>
              </a:rPr>
              <a:t>SYSTEM STATUS //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7E483-5FEB-40A0-932F-BFA49BE2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BCA66-CBDA-41FC-A26D-A04E4BE7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4097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B627"/>
          </a:solidFill>
          <a:ln xmlns:a="http://schemas.openxmlformats.org/drawingml/2006/main" w="0">
            <a:solidFill>
              <a:srgbClr val="FFB6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68AE1-F661-45EF-B143-AC5D3C7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00A"/>
                </a:solidFill>
              </a:defRPr>
            </a:pPr>
            <a:r>
              <a:rPr sz="900" b="1">
                <a:solidFill>
                  <a:srgbClr val="06100A"/>
                </a:solidFill>
              </a:rPr>
              <a:t>WORKING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B755C-25C5-4775-9420-6FBC95B2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EAF5ED"/>
                </a:solidFill>
              </a:defRPr>
            </a:pPr>
            <a:r>
              <a:rPr sz="6150" b="1">
                <a:solidFill>
                  <a:srgbClr val="EAF5ED"/>
                </a:solidFill>
              </a:rPr>
              <a:t>BAILOUT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AC1DB-B191-44D4-A4E7-D03C1CE7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67000"/>
            <a:ext cx="628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5F28A"/>
                </a:solidFill>
              </a:defRPr>
            </a:pPr>
            <a:r>
              <a:rPr sz="2700" b="1">
                <a:solidFill>
                  <a:srgbClr val="35F28A"/>
                </a:solidFill>
              </a:rPr>
              <a:t>Finally, the Escape key</a:t>
            </a:r>
          </a:p>
          <a:p xmlns:a="http://schemas.openxmlformats.org/drawingml/2006/main">
            <a:pPr algn="l">
              <a:defRPr sz="2700" b="1">
                <a:solidFill>
                  <a:srgbClr val="35F28A"/>
                </a:solidFill>
              </a:defRPr>
            </a:pPr>
            <a:r>
              <a:rPr sz="2700" b="1">
                <a:solidFill>
                  <a:srgbClr val="35F28A"/>
                </a:solidFill>
              </a:rPr>
              <a:t>does what it says.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B1055-4AC7-4312-8807-64BAFE5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195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FA89B"/>
                </a:solidFill>
              </a:defRPr>
            </a:pPr>
            <a:r>
              <a:rPr sz="1500" b="0">
                <a:solidFill>
                  <a:srgbClr val="8FA89B"/>
                </a:solidFill>
              </a:rPr>
              <a:t>A one-key fake incoming call with hands-free audio coaching for the exit.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FDEA6-7F18-47D5-834E-159CBA0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62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5ED"/>
                </a:solidFill>
              </a:defRPr>
            </a:pPr>
            <a:r>
              <a:rPr sz="975" b="1">
                <a:solidFill>
                  <a:srgbClr val="EAF5ED"/>
                </a:solidFill>
              </a:rPr>
              <a:t>TEAM EXIT ROW  //  DUM DUBER &amp; DUMBER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2FE7A-ADE8-4B88-A91A-6007A712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90700"/>
            <a:ext cx="3219450" cy="3257550"/>
          </a:xfrm>
          <a:prstGeom xmlns:a="http://schemas.openxmlformats.org/drawingml/2006/main" prst="roundRect">
            <a:avLst>
              <a:gd name="adj" fmla="val 1775"/>
            </a:avLst>
          </a:prstGeom>
          <a:solidFill xmlns:a="http://schemas.openxmlformats.org/drawingml/2006/main">
            <a:srgbClr val="030805"/>
          </a:solidFill>
          <a:ln xmlns:a="http://schemas.openxmlformats.org/drawingml/2006/main" w="0">
            <a:solidFill>
              <a:srgbClr val="0308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D66AF-2487-4AFD-81FA-2A9D8A9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09725"/>
            <a:ext cx="3219450" cy="3257550"/>
          </a:xfrm>
          <a:prstGeom xmlns:a="http://schemas.openxmlformats.org/drawingml/2006/main" prst="roundRect">
            <a:avLst>
              <a:gd name="adj" fmla="val 1775"/>
            </a:avLst>
          </a:prstGeom>
          <a:solidFill xmlns:a="http://schemas.openxmlformats.org/drawingml/2006/main">
            <a:srgbClr val="131F17"/>
          </a:solidFill>
          <a:ln xmlns:a="http://schemas.openxmlformats.org/drawingml/2006/main" w="28575">
            <a:solidFill>
              <a:srgbClr val="35F2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1DD38-2E2B-4639-B88C-1EBD301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38325"/>
            <a:ext cx="278130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E1711"/>
          </a:solidFill>
          <a:ln xmlns:a="http://schemas.openxmlformats.org/drawingml/2006/main" w="19050">
            <a:solidFill>
              <a:srgbClr val="2438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086C6-2603-46CC-A806-B1BC5D9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76500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EAF5ED"/>
                </a:solidFill>
              </a:defRPr>
            </a:pPr>
            <a:r>
              <a:rPr sz="6150" b="1">
                <a:solidFill>
                  <a:srgbClr val="EAF5ED"/>
                </a:solidFill>
              </a:rPr>
              <a:t>ESC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E1607-E8B6-4311-81B2-6DB5377B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62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2C235-3642-42DA-9AD9-6848EA1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577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F28A"/>
                </a:solidFill>
              </a:defRPr>
            </a:pPr>
            <a:r>
              <a:rPr sz="1125" b="1">
                <a:solidFill>
                  <a:srgbClr val="35F28A"/>
                </a:solidFill>
              </a:rPr>
              <a:t>PANIC BUTTON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968EB-BE74-4F1B-9DBF-9EF7A50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276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627"/>
                </a:solidFill>
              </a:defRPr>
            </a:pPr>
            <a:r>
              <a:rPr sz="1050" b="1">
                <a:solidFill>
                  <a:srgbClr val="FFB627"/>
                </a:solidFill>
              </a:rPr>
              <a:t>PRESS TO EXTRACT</a:t>
            </a:r>
          </a:p>
        </p:txBody>
      </p:sp>
    </p:spTree>
    <p:extLst>
      <p:ext uri="{BB962C8B-B14F-4D97-AF65-F5344CB8AC3E}">
        <p14:creationId xmlns:p14="http://schemas.microsoft.com/office/powerpoint/2010/main" val="1815729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55393-DDCE-43F3-95B7-52D4DA5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7E581-EF90-403E-A445-D36A2C8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[ S.M.E.S. // BAILOUT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EDEAB-BBB5-4125-8D59-8FE03578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89B"/>
                </a:solidFill>
              </a:defRPr>
            </a:pPr>
            <a:r>
              <a:rPr sz="975" b="1">
                <a:solidFill>
                  <a:srgbClr val="8FA89B"/>
                </a:solidFill>
              </a:rPr>
              <a:t>PROBLEM // SOCIAL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8B067-456E-4E09-B8A9-65DD944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BBD7B-979C-448C-B4E1-610F46B4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B80B0-AD5C-4C7D-B078-BA8FB1AD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95E"/>
                </a:solidFill>
              </a:defRPr>
            </a:pPr>
            <a:r>
              <a:rPr sz="825" b="1">
                <a:solidFill>
                  <a:srgbClr val="53695E"/>
                </a:solidFill>
              </a:rPr>
              <a:t>SYSTEM STATUS //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E93A4-E1A7-4C4D-9629-852B3CF1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EB754-B369-40E0-B9B1-F48EF59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627"/>
                </a:solidFill>
              </a:defRPr>
            </a:pPr>
            <a:r>
              <a:rPr sz="1050" b="1">
                <a:solidFill>
                  <a:srgbClr val="FFB627"/>
                </a:solidFill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A2AB0-889D-46C4-BEAA-B84B9A1F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F5ED"/>
                </a:solidFill>
              </a:defRPr>
            </a:pPr>
            <a:r>
              <a:rPr sz="3225" b="1">
                <a:solidFill>
                  <a:srgbClr val="EAF5ED"/>
                </a:solidFill>
              </a:rPr>
              <a:t>The agenda ended. The meeting did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C958D-9A94-473B-80DD-0AFDA183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91154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61878-EB07-4AEF-80D6-E43C1EA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3038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F36F9-9737-41C3-85AB-C6B115C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90875"/>
            <a:ext cx="3038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27"/>
          </a:solidFill>
          <a:ln xmlns:a="http://schemas.openxmlformats.org/drawingml/2006/main" w="0">
            <a:solidFill>
              <a:srgbClr val="FFB6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B2D2-1614-44E4-9C80-CB67D923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90875"/>
            <a:ext cx="3038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4"/>
          </a:solidFill>
          <a:ln xmlns:a="http://schemas.openxmlformats.org/drawingml/2006/main" w="0">
            <a:solidFill>
              <a:srgbClr val="FF5B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1B2F3-E7F2-42E1-BA62-E94BA877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05150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100B"/>
          </a:solidFill>
          <a:ln xmlns:a="http://schemas.openxmlformats.org/drawingml/2006/main" w="28575">
            <a:solidFill>
              <a:srgbClr val="35F2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C31D6-51C9-4CD0-A4C9-79C09FA5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43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F28A"/>
                </a:solidFill>
              </a:defRPr>
            </a:pPr>
            <a:r>
              <a:rPr sz="975" b="1">
                <a:solidFill>
                  <a:srgbClr val="35F28A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80A7B-94D7-4079-8990-7A1AB8A3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F28A"/>
                </a:solidFill>
              </a:defRPr>
            </a:pPr>
            <a:r>
              <a:rPr sz="1200" b="1">
                <a:solidFill>
                  <a:srgbClr val="35F28A"/>
                </a:solidFill>
              </a:rPr>
              <a:t>AGENDA 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780EC-8551-4C47-9487-B9C4727F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9052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FA89B"/>
                </a:solidFill>
              </a:defRPr>
            </a:pPr>
            <a:r>
              <a:rPr sz="1275" b="0">
                <a:solidFill>
                  <a:srgbClr val="8FA89B"/>
                </a:solidFill>
              </a:rPr>
              <a:t>Useful work ends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DFDE3-F450-44CD-9EBB-BB798BF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05150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100B"/>
          </a:solidFill>
          <a:ln xmlns:a="http://schemas.openxmlformats.org/drawingml/2006/main" w="28575">
            <a:solidFill>
              <a:srgbClr val="FFB6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18A3F-0B53-4110-A23B-95311A0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627"/>
                </a:solidFill>
              </a:defRPr>
            </a:pPr>
            <a:r>
              <a:rPr sz="975" b="1">
                <a:solidFill>
                  <a:srgbClr val="FFB627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3BCA1-5965-40E9-9582-AB4C2EFC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B627"/>
                </a:solidFill>
              </a:defRPr>
            </a:pPr>
            <a:r>
              <a:rPr sz="1200" b="1">
                <a:solidFill>
                  <a:srgbClr val="FFB627"/>
                </a:solidFill>
              </a:rPr>
              <a:t>SECOND RECAP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1757A-D43D-467F-A711-E3B5D521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52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FA89B"/>
                </a:solidFill>
              </a:defRPr>
            </a:pPr>
            <a:r>
              <a:rPr sz="1275" b="0">
                <a:solidFill>
                  <a:srgbClr val="8FA89B"/>
                </a:solidFill>
              </a:rPr>
              <a:t>'One last thing'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EE9A9-1A67-45E2-82B6-83BC34C5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05150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100B"/>
          </a:solidFill>
          <a:ln xmlns:a="http://schemas.openxmlformats.org/drawingml/2006/main" w="28575">
            <a:solidFill>
              <a:srgbClr val="FF5B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41CEE-7CC7-4AF4-A826-30B2D73E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43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B54"/>
                </a:solidFill>
              </a:defRPr>
            </a:pPr>
            <a:r>
              <a:rPr sz="975" b="1">
                <a:solidFill>
                  <a:srgbClr val="FF5B54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129F9-ED64-400F-B007-F9564C08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5B54"/>
                </a:solidFill>
              </a:defRPr>
            </a:pPr>
            <a:r>
              <a:rPr sz="1200" b="1">
                <a:solidFill>
                  <a:srgbClr val="FF5B54"/>
                </a:solidFill>
              </a:rPr>
              <a:t>THIRD RECAP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3030C-A24F-4EC7-975B-506C8F8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FA89B"/>
                </a:solidFill>
              </a:defRPr>
            </a:pPr>
            <a:r>
              <a:rPr sz="1275" b="0">
                <a:solidFill>
                  <a:srgbClr val="8FA89B"/>
                </a:solidFill>
              </a:rPr>
              <a:t>Same point. New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35087-D2DF-4C79-A215-EA8254BA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05150"/>
            <a:ext cx="228600" cy="228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100B"/>
          </a:solidFill>
          <a:ln xmlns:a="http://schemas.openxmlformats.org/drawingml/2006/main" w="28575">
            <a:solidFill>
              <a:srgbClr val="FF5B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1C754-49BB-48BC-AE48-0BF17F8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43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5B54"/>
                </a:solidFill>
              </a:defRPr>
            </a:pPr>
            <a:r>
              <a:rPr sz="975" b="1">
                <a:solidFill>
                  <a:srgbClr val="FF5B54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70186-82B1-4081-8C52-7E4B0D2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623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5B54"/>
                </a:solidFill>
              </a:defRPr>
            </a:pPr>
            <a:r>
              <a:rPr sz="1200" b="1">
                <a:solidFill>
                  <a:srgbClr val="FF5B54"/>
                </a:solidFill>
              </a:rPr>
              <a:t>STILL TRAPPED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B414B-3CBA-4D99-9048-3EE9C6B7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052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FA89B"/>
                </a:solidFill>
              </a:defRPr>
            </a:pPr>
            <a:r>
              <a:rPr sz="1275" b="0">
                <a:solidFill>
                  <a:srgbClr val="8FA89B"/>
                </a:solidFill>
              </a:rPr>
              <a:t>No graceful exit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6AD5CF-4F72-48DD-960A-E832961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9F536-BCD9-4020-81A3-F1AEEC7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F5ED"/>
                </a:solidFill>
              </a:defRPr>
            </a:pPr>
            <a:r>
              <a:rPr sz="2100" b="1">
                <a:solidFill>
                  <a:srgbClr val="EAF5ED"/>
                </a:solidFill>
              </a:rPr>
              <a:t>THE REAL PROBLEM IS NOT THE DOOR.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AC035-DA86-487E-BA02-1125727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5F28A"/>
                </a:solidFill>
              </a:defRPr>
            </a:pPr>
            <a:r>
              <a:rPr sz="2550" b="1">
                <a:solidFill>
                  <a:srgbClr val="35F28A"/>
                </a:solidFill>
              </a:rPr>
              <a:t>IT IS THE EXCUSE.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B940F-AB12-42ED-9CBA-9544546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244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B627"/>
                </a:solidFill>
              </a:defRPr>
            </a:pPr>
            <a:r>
              <a:rPr sz="1500" b="1">
                <a:solidFill>
                  <a:srgbClr val="FFB627"/>
                </a:solidFill>
              </a:rPr>
              <a:t>Leaving honestly creates friction.</a:t>
            </a:r>
          </a:p>
          <a:p xmlns:a="http://schemas.openxmlformats.org/drawingml/2006/main">
            <a:pPr algn="r">
              <a:defRPr sz="1500" b="1">
                <a:solidFill>
                  <a:srgbClr val="FFB627"/>
                </a:solidFill>
              </a:defRPr>
            </a:pPr>
            <a:r>
              <a:rPr sz="1500" b="1">
                <a:solidFill>
                  <a:srgbClr val="FFB627"/>
                </a:solidFill>
              </a:rPr>
              <a:t>Staying quietly wastes time.</a:t>
            </a:r>
          </a:p>
        </p:txBody>
      </p:sp>
    </p:spTree>
    <p:extLst>
      <p:ext uri="{BB962C8B-B14F-4D97-AF65-F5344CB8AC3E}">
        <p14:creationId xmlns:p14="http://schemas.microsoft.com/office/powerpoint/2010/main" val="1976902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181B2-3015-4AF7-B61B-4C476DA7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76BC-5EBA-4A55-90A8-640CE7F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[ S.M.E.S. // BAILOUT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02276-AA2D-4E64-8B82-94134B8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89B"/>
                </a:solidFill>
              </a:defRPr>
            </a:pPr>
            <a:r>
              <a:rPr sz="975" b="1">
                <a:solidFill>
                  <a:srgbClr val="8FA89B"/>
                </a:solidFill>
              </a:rPr>
              <a:t>DIFFERENCE // COMPLETE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106D9-79BC-4F17-8146-7D6950A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6D1FD-5729-4457-A7AB-56CB73D9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DF1E4-F8F6-4926-B2DF-B2AB9A69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95E"/>
                </a:solidFill>
              </a:defRPr>
            </a:pPr>
            <a:r>
              <a:rPr sz="825" b="1">
                <a:solidFill>
                  <a:srgbClr val="53695E"/>
                </a:solidFill>
              </a:rPr>
              <a:t>SYSTEM STATUS //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FBA6C-ABB3-4725-A846-148005C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45101-66FE-432D-98BE-B61102A8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627"/>
                </a:solidFill>
              </a:defRPr>
            </a:pPr>
            <a:r>
              <a:rPr sz="1050" b="1">
                <a:solidFill>
                  <a:srgbClr val="FFB627"/>
                </a:solidFill>
              </a:rPr>
              <a:t>WHY BAILOUT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27589-ED3A-49DB-865B-F4E4948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F5ED"/>
                </a:solidFill>
              </a:defRPr>
            </a:pPr>
            <a:r>
              <a:rPr sz="3225" b="1">
                <a:solidFill>
                  <a:srgbClr val="EAF5ED"/>
                </a:solidFill>
              </a:rPr>
              <a:t>A fake ring is a feature. An extraction protocol is a product.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82B3C-C44A-437E-ADA7-134C46C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819650" cy="33528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151514"/>
          </a:solidFill>
          <a:ln xmlns:a="http://schemas.openxmlformats.org/drawingml/2006/main" w="9525">
            <a:solidFill>
              <a:srgbClr val="2438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A001F-184F-49A8-9CAE-CC38EC3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33600"/>
            <a:ext cx="5981700" cy="3352800"/>
          </a:xfrm>
          <a:prstGeom xmlns:a="http://schemas.openxmlformats.org/drawingml/2006/main" prst="roundRect">
            <a:avLst>
              <a:gd name="adj" fmla="val 1705"/>
            </a:avLst>
          </a:prstGeom>
          <a:solidFill xmlns:a="http://schemas.openxmlformats.org/drawingml/2006/main">
            <a:srgbClr val="0C1B12"/>
          </a:solidFill>
          <a:ln xmlns:a="http://schemas.openxmlformats.org/drawingml/2006/main" w="19050">
            <a:solidFill>
              <a:srgbClr val="153E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2544D-03EB-4580-A38B-DCAD3240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B54"/>
                </a:solidFill>
              </a:defRPr>
            </a:pPr>
            <a:r>
              <a:rPr sz="1050" b="1">
                <a:solidFill>
                  <a:srgbClr val="FF5B54"/>
                </a:solidFill>
              </a:rPr>
              <a:t>GENERIC FAKE-CALL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DBC73-9956-433A-AD73-B3B133E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AF5ED"/>
                </a:solidFill>
              </a:defRPr>
            </a:pPr>
            <a:r>
              <a:rPr sz="3600" b="1">
                <a:solidFill>
                  <a:srgbClr val="EAF5ED"/>
                </a:solidFill>
              </a:rPr>
              <a:t>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88023-C873-4BC3-BEFF-62199C58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FA89B"/>
                </a:solidFill>
              </a:defRPr>
            </a:pPr>
            <a:r>
              <a:rPr sz="1425" b="0">
                <a:solidFill>
                  <a:srgbClr val="8FA89B"/>
                </a:solidFill>
              </a:rPr>
              <a:t>Fake caller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A3C6C-9610-4C3F-AF2B-40A3731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29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95E"/>
                </a:solidFill>
              </a:defRPr>
            </a:pPr>
            <a:r>
              <a:rPr sz="1650" b="1">
                <a:solidFill>
                  <a:srgbClr val="53695E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12F53-8C7E-485E-99EA-E929FA3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FA89B"/>
                </a:solidFill>
              </a:defRPr>
            </a:pPr>
            <a:r>
              <a:rPr sz="1425" b="0">
                <a:solidFill>
                  <a:srgbClr val="8FA89B"/>
                </a:solidFill>
              </a:rPr>
              <a:t>Phone rings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2A352-BCBA-45F8-9823-2E3CDB36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29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95E"/>
                </a:solidFill>
              </a:defRPr>
            </a:pPr>
            <a:r>
              <a:rPr sz="1650" b="1">
                <a:solidFill>
                  <a:srgbClr val="53695E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3950A-4C6D-4581-B7C3-C39A0D1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076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241616"/>
          </a:solidFill>
          <a:ln xmlns:a="http://schemas.openxmlformats.org/drawingml/2006/main" w="9525">
            <a:solidFill>
              <a:srgbClr val="4A27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89A63-C61A-45EC-9799-3326A0A5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71975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5B54"/>
                </a:solidFill>
              </a:defRPr>
            </a:pPr>
            <a:r>
              <a:rPr sz="1875" b="1">
                <a:solidFill>
                  <a:srgbClr val="FF5B54"/>
                </a:solidFill>
              </a:rPr>
              <a:t>YOU IMPROVISE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8CF71-D46A-4B3B-8131-72A12C19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The sound works. The story is your problem.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EECDB-9EF1-43F5-8BC7-7AA6D9B5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BAILOUT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6276D-1813-4DB5-AEC3-6DAB79A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24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F28A"/>
                </a:solidFill>
              </a:defRPr>
            </a:pPr>
            <a:r>
              <a:rPr sz="3600" b="1">
                <a:solidFill>
                  <a:srgbClr val="35F28A"/>
                </a:solidFill>
              </a:rPr>
              <a:t>EXIT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8CC8E-E400-4898-88AB-1ADA9A2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52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F28A"/>
                </a:solidFill>
              </a:defRPr>
            </a:pPr>
            <a:r>
              <a:rPr sz="975" b="1">
                <a:solidFill>
                  <a:srgbClr val="35F28A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BCB2C-F526-4DB9-812C-E1D4C91B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5ED"/>
                </a:solidFill>
              </a:defRPr>
            </a:pPr>
            <a:r>
              <a:rPr sz="1350" b="1">
                <a:solidFill>
                  <a:srgbClr val="EAF5ED"/>
                </a:solidFill>
              </a:rPr>
              <a:t>Choose caller + 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BDBE4-E8B3-49C7-B93A-767C9F8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89B"/>
                </a:solidFill>
              </a:defRPr>
            </a:pPr>
            <a:r>
              <a:rPr sz="1125" b="0">
                <a:solidFill>
                  <a:srgbClr val="8FA89B"/>
                </a:solidFill>
              </a:rPr>
              <a:t>The story is ready before the ring.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68F45-5F80-4AEF-8A18-786C52E3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76675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635DD-FDFF-4148-B4E0-38D8EC3B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F28A"/>
                </a:solidFill>
              </a:defRPr>
            </a:pPr>
            <a:r>
              <a:rPr sz="975" b="1">
                <a:solidFill>
                  <a:srgbClr val="35F28A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94E29-ED83-4754-96A5-AC84757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909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5ED"/>
                </a:solidFill>
              </a:defRPr>
            </a:pPr>
            <a:r>
              <a:rPr sz="1350" b="1">
                <a:solidFill>
                  <a:srgbClr val="EAF5ED"/>
                </a:solidFill>
              </a:rPr>
              <a:t>Check 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DB950-4D73-4B61-BC1A-883E4D1D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89B"/>
                </a:solidFill>
              </a:defRPr>
            </a:pPr>
            <a:r>
              <a:rPr sz="1125" b="0">
                <a:solidFill>
                  <a:srgbClr val="8FA89B"/>
                </a:solidFill>
              </a:rPr>
              <a:t>Timing and details are scored.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88564-CD20-455E-842B-F9A5F2FF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2435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E6E999-6E35-4DE8-8D26-794E27FD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48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F28A"/>
                </a:solidFill>
              </a:defRPr>
            </a:pPr>
            <a:r>
              <a:rPr sz="975" b="1">
                <a:solidFill>
                  <a:srgbClr val="35F28A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CB2CD-839C-4AF3-88C2-E04E1218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5ED"/>
                </a:solidFill>
              </a:defRPr>
            </a:pPr>
            <a:r>
              <a:rPr sz="1350" b="1">
                <a:solidFill>
                  <a:srgbClr val="EAF5ED"/>
                </a:solidFill>
              </a:rPr>
              <a:t>Press Esc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85ADA4-402D-4D02-A12C-9CE5CCD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4817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89B"/>
                </a:solidFill>
              </a:defRPr>
            </a:pPr>
            <a:r>
              <a:rPr sz="1125" b="0">
                <a:solidFill>
                  <a:srgbClr val="8FA89B"/>
                </a:solidFill>
              </a:rPr>
              <a:t>The call starts instantly.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7173D-8EF8-4ABE-83DC-AA608C8B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055BE-DB08-40A2-AD5D-C5FD023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95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F28A"/>
                </a:solidFill>
              </a:defRPr>
            </a:pPr>
            <a:r>
              <a:rPr sz="975" b="1">
                <a:solidFill>
                  <a:srgbClr val="35F28A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0D0116-7BA7-4F3E-97D2-3C8BE2E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863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5ED"/>
                </a:solidFill>
              </a:defRPr>
            </a:pPr>
            <a:r>
              <a:rPr sz="1350" b="1">
                <a:solidFill>
                  <a:srgbClr val="EAF5ED"/>
                </a:solidFill>
              </a:rPr>
              <a:t>Repeat the audio coach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CDCEC-EBE1-45C8-9310-5C6454D6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FA89B"/>
                </a:solidFill>
              </a:defRPr>
            </a:pPr>
            <a:r>
              <a:rPr sz="1125" b="0">
                <a:solidFill>
                  <a:srgbClr val="8FA89B"/>
                </a:solidFill>
              </a:rPr>
              <a:t>No screen-reading under pressure.</a:t>
            </a:r>
          </a:p>
        </p:txBody>
      </p:sp>
    </p:spTree>
    <p:extLst>
      <p:ext uri="{BB962C8B-B14F-4D97-AF65-F5344CB8AC3E}">
        <p14:creationId xmlns:p14="http://schemas.microsoft.com/office/powerpoint/2010/main" val="1908006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A2D03-14C8-48D0-BA97-B41481D8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39EAE-F382-4ADC-9217-EDB2FDD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[ S.M.E.S. // BAILOUT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5449F-BAE1-4457-94FA-1147B8DA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89B"/>
                </a:solidFill>
              </a:defRPr>
            </a:pPr>
            <a:r>
              <a:rPr sz="975" b="1">
                <a:solidFill>
                  <a:srgbClr val="8FA89B"/>
                </a:solidFill>
              </a:rPr>
              <a:t>PRODUCT // WORKING BROWSER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1B4AD-90EE-4A41-AF0C-9F2496F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9F397-84D1-48AE-8ED4-643B996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A533A-9E43-4920-9E92-A2173C7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627"/>
                </a:solidFill>
              </a:defRPr>
            </a:pPr>
            <a:r>
              <a:rPr sz="825" b="1">
                <a:solidFill>
                  <a:srgbClr val="FFB627"/>
                </a:solidFill>
              </a:rPr>
              <a:t>SYSTEM STATUS // LIVE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9846F-AC80-4B68-9DAD-D1E50865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BEBF7-A604-4963-A1B8-DCDD15D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627"/>
                </a:solidFill>
              </a:defRPr>
            </a:pPr>
            <a:r>
              <a:rPr sz="1050" b="1">
                <a:solidFill>
                  <a:srgbClr val="FFB627"/>
                </a:solidFill>
              </a:rPr>
              <a:t>LIVE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A67D-B05A-48EA-8082-22DA1F2A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AF5ED"/>
                </a:solidFill>
              </a:defRPr>
            </a:pPr>
            <a:r>
              <a:rPr sz="3225" b="1">
                <a:solidFill>
                  <a:srgbClr val="EAF5ED"/>
                </a:solidFill>
              </a:rPr>
              <a:t>Press Esc. BAILOUT handles the rest.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51E67-5F25-4F6D-94E1-95C979B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051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010CB-7C9D-431F-8000-5A00D84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17"/>
          </a:solidFill>
          <a:ln xmlns:a="http://schemas.openxmlformats.org/drawingml/2006/main" w="19050">
            <a:solidFill>
              <a:srgbClr val="35F2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02E75-C1CD-4858-BD23-732CDB37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F28A"/>
                </a:solidFill>
              </a:defRPr>
            </a:pPr>
            <a:r>
              <a:rPr sz="1275" b="1">
                <a:solidFill>
                  <a:srgbClr val="35F28A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A40A7-02B1-40EB-B981-F40AFCB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76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ED"/>
                </a:solidFill>
              </a:defRPr>
            </a:pPr>
            <a:r>
              <a:rPr sz="1275" b="1">
                <a:solidFill>
                  <a:srgbClr val="EAF5ED"/>
                </a:solidFill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B79D6-2ABE-4C95-9E6C-3A538B6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12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Choose caller and scenario.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E6F2E-8C29-4318-A8F8-52833FD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719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F2735-6B3C-449F-843A-A54B9CA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17"/>
          </a:solidFill>
          <a:ln xmlns:a="http://schemas.openxmlformats.org/drawingml/2006/main" w="19050">
            <a:solidFill>
              <a:srgbClr val="35F2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44564-5C9D-4ADC-8C48-A7789DAB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F28A"/>
                </a:solidFill>
              </a:defRPr>
            </a:pPr>
            <a:r>
              <a:rPr sz="1275" b="1">
                <a:solidFill>
                  <a:srgbClr val="35F28A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EBAB2-0F21-4967-A16D-3DC6BED0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43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ED"/>
                </a:solidFill>
              </a:defRPr>
            </a:pPr>
            <a:r>
              <a:rPr sz="1275" b="1">
                <a:solidFill>
                  <a:srgbClr val="EAF5ED"/>
                </a:solidFill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B8960-704B-4FE3-96B7-0082B1EF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Arm a delay or press Esc.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7AEC0-07A8-4E75-AAAB-2B705811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4191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17"/>
          </a:solidFill>
          <a:ln xmlns:a="http://schemas.openxmlformats.org/drawingml/2006/main" w="19050">
            <a:solidFill>
              <a:srgbClr val="FFB6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9DD50-FC42-4CAF-AB86-3F48FE01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B627"/>
                </a:solidFill>
              </a:defRPr>
            </a:pPr>
            <a:r>
              <a:rPr sz="1275" b="1">
                <a:solidFill>
                  <a:srgbClr val="FFB627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2C39F-F8DC-43AB-BDD7-FCF7F38C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5ED"/>
                </a:solidFill>
              </a:defRPr>
            </a:pPr>
            <a:r>
              <a:rPr sz="1275" b="1">
                <a:solidFill>
                  <a:srgbClr val="EAF5ED"/>
                </a:solidFill>
              </a:rPr>
              <a:t>REPEAT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D8FB5-9B60-47E8-A405-BF957110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Hear each cue through audio.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6FDB4-4781-4E1A-8411-DA356F45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28956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CDDD9-79D8-4E19-82CF-0E83628C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48325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00A"/>
                </a:solidFill>
              </a:defRPr>
            </a:pPr>
            <a:r>
              <a:rPr sz="1050" b="1">
                <a:solidFill>
                  <a:srgbClr val="06100A"/>
                </a:solidFill>
              </a:rPr>
              <a:t>20 LOCAL AUDIO PROMPTS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1D86F-CAB6-45E8-BE03-265E556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77914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020604"/>
          </a:solidFill>
          <a:ln xmlns:a="http://schemas.openxmlformats.org/drawingml/2006/main" w="0">
            <a:solidFill>
              <a:srgbClr val="02060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203BA-7246-4734-9DE1-43DEBBD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47875"/>
            <a:ext cx="7791450" cy="3857625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0E1711"/>
          </a:solidFill>
          <a:ln xmlns:a="http://schemas.openxmlformats.org/drawingml/2006/main" w="19050">
            <a:solidFill>
              <a:srgbClr val="35F28A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e4933c5bf4add"/>
          <a:srcRect xmlns:a="http://schemas.openxmlformats.org/drawingml/2006/main" l="0" t="11404" r="0" b="11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0475" y="2143125"/>
            <a:ext cx="7600950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30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F9ADD-1A59-446A-807D-AFA56470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970A1-2959-488C-8808-13FC7A7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[ S.M.E.S. // BAILOUT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3E7C9-A39E-44C0-9E6C-F8CE0804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89B"/>
                </a:solidFill>
              </a:defRPr>
            </a:pPr>
            <a:r>
              <a:rPr sz="975" b="1">
                <a:solidFill>
                  <a:srgbClr val="8FA89B"/>
                </a:solidFill>
              </a:rPr>
              <a:t>CLOSE // BUILT TO ESCAPE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28097-545A-44D0-B4D5-BC606D30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EB4D-28B0-452F-81EA-FB3FD1D7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5CE08-1DE1-4137-9B81-139537E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95E"/>
                </a:solidFill>
              </a:defRPr>
            </a:pPr>
            <a:r>
              <a:rPr sz="825" b="1">
                <a:solidFill>
                  <a:srgbClr val="53695E"/>
                </a:solidFill>
              </a:rPr>
              <a:t>SYSTEM STATUS //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95331-6223-4DCF-9E11-916583C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F28A"/>
                </a:solidFill>
              </a:defRPr>
            </a:pPr>
            <a:r>
              <a:rPr sz="1050" b="1">
                <a:solidFill>
                  <a:srgbClr val="35F28A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0DF35-F872-4D31-BECE-6FF5915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202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5ED"/>
                </a:solidFill>
              </a:defRPr>
            </a:pPr>
            <a:r>
              <a:rPr sz="3450" b="1">
                <a:solidFill>
                  <a:srgbClr val="EAF5ED"/>
                </a:solidFill>
              </a:rPr>
              <a:t>STUPID ENOUGH TO SHARE.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BC1DE-BF40-4AF7-98B9-2AF21DFC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F28A"/>
                </a:solidFill>
              </a:defRPr>
            </a:pPr>
            <a:r>
              <a:rPr sz="3600" b="1">
                <a:solidFill>
                  <a:srgbClr val="35F28A"/>
                </a:solidFill>
              </a:rPr>
              <a:t>USEFUL ENOUGH TO KEEP.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65BEB-767C-4AA8-A0D4-4446D70E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FA89B"/>
                </a:solidFill>
              </a:defRPr>
            </a:pPr>
            <a:r>
              <a:rPr sz="1500" b="0">
                <a:solidFill>
                  <a:srgbClr val="8FA89B"/>
                </a:solidFill>
              </a:rPr>
              <a:t>For students, workers, and anyone trapped in a meeting that should have been an email.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14A1-C8D4-4A72-8B41-D310ED4E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AF5ED"/>
                </a:solidFill>
              </a:defRPr>
            </a:pPr>
            <a:r>
              <a:rPr sz="4200" b="1">
                <a:solidFill>
                  <a:srgbClr val="EAF5ED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43649-F096-410B-A4DF-3962D48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F28A"/>
                </a:solidFill>
              </a:defRPr>
            </a:pPr>
            <a:r>
              <a:rPr sz="1200" b="1">
                <a:solidFill>
                  <a:srgbClr val="35F28A"/>
                </a:solidFill>
              </a:rPr>
              <a:t>KEYPRESS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18098-53B8-4B12-AFA7-E694B4DC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to trigger the bailout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C981-96C0-47CA-AAF8-C1C6878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9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7056C-1B4E-46D0-AE6E-8B92058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B627"/>
                </a:solidFill>
              </a:defRPr>
            </a:pPr>
            <a:r>
              <a:rPr sz="4200" b="1">
                <a:solidFill>
                  <a:srgbClr val="FFB627"/>
                </a:solidFill>
              </a:rP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94F7-40DA-476C-B002-FDD8E273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F28A"/>
                </a:solidFill>
              </a:defRPr>
            </a:pPr>
            <a:r>
              <a:rPr sz="1200" b="1">
                <a:solidFill>
                  <a:srgbClr val="35F28A"/>
                </a:solidFill>
              </a:rPr>
              <a:t>AUDIO PROMPTS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5B60F-D869-458D-88CC-F2C381D7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stored locally in the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87E34-F27F-45A9-81AC-95EF2B86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14675"/>
            <a:ext cx="95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C"/>
          </a:solidFill>
          <a:ln xmlns:a="http://schemas.openxmlformats.org/drawingml/2006/main" w="0">
            <a:solidFill>
              <a:srgbClr val="2438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608F8-DE91-4BD8-AE18-7ED5898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AF5ED"/>
                </a:solidFill>
              </a:defRPr>
            </a:pPr>
            <a:r>
              <a:rPr sz="4200" b="1">
                <a:solidFill>
                  <a:srgbClr val="EAF5ED"/>
                </a:solidFill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7F330-E49C-4D2B-8C9E-A490886F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F28A"/>
                </a:solidFill>
              </a:defRPr>
            </a:pPr>
            <a:r>
              <a:rPr sz="1200" b="1">
                <a:solidFill>
                  <a:srgbClr val="35F28A"/>
                </a:solidFill>
              </a:rPr>
              <a:t>ACCOUNTS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7A379-69B0-4D3B-8DC5-39401A25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9B"/>
                </a:solidFill>
              </a:defRPr>
            </a:pPr>
            <a:r>
              <a:rPr sz="1200" b="0">
                <a:solidFill>
                  <a:srgbClr val="8FA89B"/>
                </a:solidFill>
              </a:rPr>
              <a:t>installs, servers, or API keys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46477-5028-4829-9BD8-23E3BE0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2995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F28A"/>
          </a:solidFill>
          <a:ln xmlns:a="http://schemas.openxmlformats.org/drawingml/2006/main" w="0">
            <a:solidFill>
              <a:srgbClr val="35F2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74962-4F6A-4A8F-BCFC-4385136F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100A"/>
                </a:solidFill>
              </a:defRPr>
            </a:pPr>
            <a:r>
              <a:rPr sz="2100" b="1">
                <a:solidFill>
                  <a:srgbClr val="06100A"/>
                </a:solidFill>
              </a:rPr>
              <a:t>PRESS  ESC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EA704-D1E7-442E-91AD-1861D29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6100A"/>
                </a:solidFill>
              </a:defRPr>
            </a:pPr>
            <a:r>
              <a:rPr sz="1500" b="1">
                <a:solidFill>
                  <a:srgbClr val="06100A"/>
                </a:solidFill>
              </a:rPr>
              <a:t>BAILOUT  //  FINALLY, THE ESCAPE KEY WORKS</a:t>
            </a:r>
          </a:p>
        </p:txBody>
      </p:sp>
    </p:spTree>
    <p:extLst>
      <p:ext uri="{BB962C8B-B14F-4D97-AF65-F5344CB8AC3E}">
        <p14:creationId xmlns:p14="http://schemas.microsoft.com/office/powerpoint/2010/main" val="397407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2026-07-12T08:58:21.4760000Z</dcterms:created>
  <dcterms:modified xsi:type="dcterms:W3CDTF">2026-07-12T08:58:21.4760000Z</dcterms:modified>
</coreProperties>
</file>